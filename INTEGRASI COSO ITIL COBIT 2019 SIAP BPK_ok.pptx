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05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0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3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17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81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30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66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75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7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7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4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824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92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29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700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83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2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118" y="3800469"/>
            <a:ext cx="7797662" cy="1151965"/>
          </a:xfrm>
        </p:spPr>
        <p:txBody>
          <a:bodyPr anchor="t"/>
          <a:lstStyle/>
          <a:p>
            <a:r>
              <a:rPr lang="en-ID" sz="2400" b="1" dirty="0"/>
              <a:t>Nama : Dody Pintarko</a:t>
            </a:r>
            <a:br>
              <a:rPr lang="en-ID" sz="2400" b="1" dirty="0"/>
            </a:br>
            <a:r>
              <a:rPr lang="en-ID" sz="2400" b="1" dirty="0"/>
              <a:t>NPM    : 24066020008</a:t>
            </a:r>
            <a:br>
              <a:rPr lang="en-ID" sz="2400" b="1" dirty="0"/>
            </a:br>
            <a:r>
              <a:rPr lang="en-ID" sz="2400" b="1" dirty="0" err="1"/>
              <a:t>Dosen</a:t>
            </a:r>
            <a:r>
              <a:rPr lang="en-ID" sz="2400" b="1" dirty="0"/>
              <a:t> : DR. </a:t>
            </a:r>
            <a:r>
              <a:rPr lang="en-ID" sz="2400" b="1" dirty="0" err="1" smtClean="0"/>
              <a:t>basuki</a:t>
            </a:r>
            <a:r>
              <a:rPr lang="en-ID" sz="2400" b="1" dirty="0" smtClean="0"/>
              <a:t> </a:t>
            </a:r>
            <a:r>
              <a:rPr lang="en-ID" sz="2400" b="1" dirty="0" err="1" smtClean="0"/>
              <a:t>rahmat</a:t>
            </a:r>
            <a:r>
              <a:rPr lang="en-ID" sz="2400" b="1" dirty="0" smtClean="0"/>
              <a:t>, S.si., </a:t>
            </a:r>
            <a:r>
              <a:rPr lang="en-ID" sz="2400" b="1" dirty="0"/>
              <a:t>M.T</a:t>
            </a:r>
            <a:br>
              <a:rPr lang="en-ID" sz="2400" b="1" dirty="0"/>
            </a:b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051" y="740394"/>
            <a:ext cx="4710974" cy="3043577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sz="3600" dirty="0" err="1"/>
              <a:t>Integrasi</a:t>
            </a:r>
            <a:r>
              <a:rPr sz="3600" dirty="0"/>
              <a:t> </a:t>
            </a:r>
            <a:endParaRPr lang="en-US" sz="3600" dirty="0" smtClean="0"/>
          </a:p>
          <a:p>
            <a:pPr marL="0" indent="0" algn="ctr">
              <a:spcBef>
                <a:spcPts val="0"/>
              </a:spcBef>
              <a:buNone/>
            </a:pPr>
            <a:r>
              <a:rPr sz="3600" dirty="0" smtClean="0"/>
              <a:t>COSO–ITIL–COBIT </a:t>
            </a:r>
            <a:endParaRPr lang="en-US" sz="3600" dirty="0" smtClean="0"/>
          </a:p>
          <a:p>
            <a:pPr marL="0" indent="0" algn="ctr">
              <a:spcBef>
                <a:spcPts val="0"/>
              </a:spcBef>
              <a:buNone/>
            </a:pPr>
            <a:r>
              <a:rPr sz="3600" dirty="0" err="1" smtClean="0"/>
              <a:t>untuk</a:t>
            </a:r>
            <a:r>
              <a:rPr sz="3600" dirty="0" smtClean="0"/>
              <a:t> </a:t>
            </a:r>
            <a:r>
              <a:rPr sz="3600" dirty="0" err="1"/>
              <a:t>Penguatan</a:t>
            </a:r>
            <a:r>
              <a:rPr sz="3600" dirty="0"/>
              <a:t> Tata </a:t>
            </a:r>
            <a:r>
              <a:rPr sz="3600" dirty="0" err="1"/>
              <a:t>Kelola</a:t>
            </a:r>
            <a:r>
              <a:rPr sz="3600" dirty="0"/>
              <a:t> </a:t>
            </a:r>
            <a:r>
              <a:rPr sz="3600" dirty="0" err="1"/>
              <a:t>SiAP</a:t>
            </a:r>
            <a:r>
              <a:rPr sz="3600" dirty="0"/>
              <a:t> BPK </a:t>
            </a:r>
            <a:r>
              <a:rPr sz="3600" dirty="0" smtClean="0"/>
              <a:t>RI</a:t>
            </a:r>
            <a:endParaRPr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6497C1-9A54-F562-7964-313DFE235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22" y="740394"/>
            <a:ext cx="2177388" cy="22627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547" y="685801"/>
            <a:ext cx="4830647" cy="1151965"/>
          </a:xfrm>
        </p:spPr>
        <p:txBody>
          <a:bodyPr/>
          <a:lstStyle/>
          <a:p>
            <a:r>
              <a:rPr dirty="0" err="1"/>
              <a:t>Latar</a:t>
            </a:r>
            <a:r>
              <a:rPr dirty="0"/>
              <a:t> </a:t>
            </a:r>
            <a:r>
              <a:rPr dirty="0" err="1"/>
              <a:t>Belakang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1548" y="1958934"/>
            <a:ext cx="4566696" cy="331118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dirty="0" err="1" smtClean="0"/>
              <a:t>SiAP</a:t>
            </a:r>
            <a:r>
              <a:rPr dirty="0" smtClean="0"/>
              <a:t> </a:t>
            </a:r>
            <a:r>
              <a:rPr dirty="0"/>
              <a:t>sebagai </a:t>
            </a:r>
            <a:r>
              <a:rPr dirty="0" err="1"/>
              <a:t>tulang</a:t>
            </a:r>
            <a:r>
              <a:rPr dirty="0"/>
              <a:t> </a:t>
            </a:r>
            <a:r>
              <a:rPr dirty="0" err="1"/>
              <a:t>punggung</a:t>
            </a:r>
            <a:r>
              <a:rPr dirty="0"/>
              <a:t> digital pemeriksaan BPK</a:t>
            </a:r>
          </a:p>
          <a:p>
            <a:pPr>
              <a:spcBef>
                <a:spcPts val="600"/>
              </a:spcBef>
            </a:pPr>
            <a:r>
              <a:rPr dirty="0" err="1" smtClean="0"/>
              <a:t>Digitalisasi</a:t>
            </a:r>
            <a:r>
              <a:rPr dirty="0" smtClean="0"/>
              <a:t> </a:t>
            </a:r>
            <a:r>
              <a:rPr dirty="0" err="1"/>
              <a:t>memerlukan</a:t>
            </a:r>
            <a:r>
              <a:rPr dirty="0"/>
              <a:t> </a:t>
            </a:r>
            <a:r>
              <a:rPr dirty="0" err="1"/>
              <a:t>tata</a:t>
            </a:r>
            <a:r>
              <a:rPr dirty="0"/>
              <a:t> </a:t>
            </a:r>
            <a:r>
              <a:rPr dirty="0" err="1"/>
              <a:t>kelola</a:t>
            </a:r>
            <a:r>
              <a:rPr dirty="0"/>
              <a:t> proses, TI, </a:t>
            </a:r>
            <a:r>
              <a:rPr dirty="0" err="1"/>
              <a:t>dan</a:t>
            </a:r>
            <a:r>
              <a:rPr dirty="0"/>
              <a:t> </a:t>
            </a:r>
            <a:r>
              <a:rPr dirty="0" err="1"/>
              <a:t>layanan</a:t>
            </a:r>
            <a:r>
              <a:rPr dirty="0"/>
              <a:t> TI</a:t>
            </a:r>
          </a:p>
          <a:p>
            <a:pPr>
              <a:spcBef>
                <a:spcPts val="600"/>
              </a:spcBef>
            </a:pPr>
            <a:r>
              <a:rPr dirty="0" err="1" smtClean="0"/>
              <a:t>Risiko</a:t>
            </a:r>
            <a:r>
              <a:rPr dirty="0" smtClean="0"/>
              <a:t> </a:t>
            </a:r>
            <a:r>
              <a:rPr dirty="0"/>
              <a:t>TI dapat </a:t>
            </a:r>
            <a:r>
              <a:rPr dirty="0" err="1"/>
              <a:t>memengaruhi</a:t>
            </a:r>
            <a:r>
              <a:rPr dirty="0"/>
              <a:t> </a:t>
            </a:r>
            <a:r>
              <a:rPr dirty="0" err="1"/>
              <a:t>integritas</a:t>
            </a:r>
            <a:r>
              <a:rPr dirty="0"/>
              <a:t> pemeriksaan</a:t>
            </a:r>
          </a:p>
          <a:p>
            <a:pPr>
              <a:spcBef>
                <a:spcPts val="600"/>
              </a:spcBef>
            </a:pPr>
            <a:r>
              <a:rPr dirty="0" err="1" smtClean="0"/>
              <a:t>Dibutuhkan</a:t>
            </a:r>
            <a:r>
              <a:rPr dirty="0" smtClean="0"/>
              <a:t> </a:t>
            </a:r>
            <a:r>
              <a:rPr dirty="0" err="1"/>
              <a:t>kerangka</a:t>
            </a:r>
            <a:r>
              <a:rPr dirty="0"/>
              <a:t> </a:t>
            </a:r>
            <a:r>
              <a:rPr dirty="0" err="1"/>
              <a:t>evaluasi</a:t>
            </a:r>
            <a:r>
              <a:rPr dirty="0"/>
              <a:t> yang </a:t>
            </a:r>
            <a:r>
              <a:rPr dirty="0" err="1"/>
              <a:t>komprehensif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244" y="685801"/>
            <a:ext cx="3855563" cy="4688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Menilai</a:t>
            </a:r>
            <a:r>
              <a:rPr dirty="0" smtClean="0"/>
              <a:t> </a:t>
            </a:r>
            <a:r>
              <a:rPr dirty="0" err="1"/>
              <a:t>SiAP</a:t>
            </a:r>
            <a:r>
              <a:rPr dirty="0"/>
              <a:t> </a:t>
            </a:r>
            <a:r>
              <a:rPr dirty="0" err="1"/>
              <a:t>berdasarkan</a:t>
            </a:r>
            <a:r>
              <a:rPr dirty="0"/>
              <a:t> COSO (Internal Control)</a:t>
            </a:r>
          </a:p>
          <a:p>
            <a:r>
              <a:rPr dirty="0" err="1" smtClean="0"/>
              <a:t>Mengevaluasi</a:t>
            </a:r>
            <a:r>
              <a:rPr dirty="0" smtClean="0"/>
              <a:t> </a:t>
            </a:r>
            <a:r>
              <a:rPr dirty="0" err="1"/>
              <a:t>keselarasan</a:t>
            </a:r>
            <a:r>
              <a:rPr dirty="0"/>
              <a:t> dengan COBIT 2019 (IT Governance)</a:t>
            </a:r>
          </a:p>
          <a:p>
            <a:r>
              <a:rPr dirty="0" err="1" smtClean="0"/>
              <a:t>Menilai</a:t>
            </a:r>
            <a:r>
              <a:rPr dirty="0" smtClean="0"/>
              <a:t> </a:t>
            </a:r>
            <a:r>
              <a:rPr dirty="0" err="1"/>
              <a:t>layanan</a:t>
            </a:r>
            <a:r>
              <a:rPr dirty="0"/>
              <a:t> TI menggunakan ITIL 4 (Service Management)</a:t>
            </a:r>
          </a:p>
          <a:p>
            <a:r>
              <a:rPr dirty="0" err="1" smtClean="0"/>
              <a:t>Menyusun</a:t>
            </a:r>
            <a:r>
              <a:rPr dirty="0" smtClean="0"/>
              <a:t> </a:t>
            </a:r>
            <a:r>
              <a:rPr dirty="0"/>
              <a:t>model </a:t>
            </a:r>
            <a:r>
              <a:rPr dirty="0" err="1"/>
              <a:t>tata</a:t>
            </a:r>
            <a:r>
              <a:rPr dirty="0"/>
              <a:t> </a:t>
            </a:r>
            <a:r>
              <a:rPr dirty="0" err="1"/>
              <a:t>kelola</a:t>
            </a:r>
            <a:r>
              <a:rPr dirty="0"/>
              <a:t> </a:t>
            </a:r>
            <a:r>
              <a:rPr dirty="0" err="1"/>
              <a:t>integratif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Analisis</a:t>
            </a:r>
            <a:r>
              <a:rPr dirty="0" smtClean="0"/>
              <a:t> </a:t>
            </a:r>
            <a:r>
              <a:rPr dirty="0" err="1"/>
              <a:t>dokumen</a:t>
            </a:r>
            <a:r>
              <a:rPr dirty="0"/>
              <a:t> (COSO, COBIT, ITIL, Manual </a:t>
            </a:r>
            <a:r>
              <a:rPr dirty="0" err="1"/>
              <a:t>SiAP</a:t>
            </a:r>
            <a:r>
              <a:rPr dirty="0"/>
              <a:t>)</a:t>
            </a:r>
          </a:p>
          <a:p>
            <a:r>
              <a:rPr dirty="0" smtClean="0"/>
              <a:t>Conceptual </a:t>
            </a:r>
            <a:r>
              <a:rPr dirty="0"/>
              <a:t>mapping </a:t>
            </a:r>
            <a:r>
              <a:rPr dirty="0" err="1"/>
              <a:t>antara</a:t>
            </a:r>
            <a:r>
              <a:rPr dirty="0"/>
              <a:t> </a:t>
            </a:r>
            <a:r>
              <a:rPr dirty="0" err="1"/>
              <a:t>kerangka</a:t>
            </a:r>
            <a:r>
              <a:rPr dirty="0"/>
              <a:t> global </a:t>
            </a:r>
            <a:r>
              <a:rPr dirty="0" err="1"/>
              <a:t>dan</a:t>
            </a:r>
            <a:r>
              <a:rPr dirty="0"/>
              <a:t> </a:t>
            </a:r>
            <a:r>
              <a:rPr dirty="0" err="1"/>
              <a:t>fitur</a:t>
            </a:r>
            <a:r>
              <a:rPr dirty="0"/>
              <a:t> </a:t>
            </a:r>
            <a:r>
              <a:rPr dirty="0" err="1"/>
              <a:t>SiAP</a:t>
            </a:r>
            <a:endParaRPr dirty="0"/>
          </a:p>
          <a:p>
            <a:r>
              <a:rPr dirty="0" smtClean="0"/>
              <a:t>Gap </a:t>
            </a:r>
            <a:r>
              <a:rPr dirty="0"/>
              <a:t>analysis </a:t>
            </a:r>
            <a:r>
              <a:rPr dirty="0" err="1"/>
              <a:t>kondisi</a:t>
            </a:r>
            <a:r>
              <a:rPr dirty="0"/>
              <a:t> ideal vs </a:t>
            </a:r>
            <a:r>
              <a:rPr dirty="0" err="1"/>
              <a:t>implementasi</a:t>
            </a:r>
            <a:endParaRPr dirty="0"/>
          </a:p>
          <a:p>
            <a:r>
              <a:rPr dirty="0" err="1" smtClean="0"/>
              <a:t>Penyusunan</a:t>
            </a:r>
            <a:r>
              <a:rPr dirty="0" smtClean="0"/>
              <a:t> </a:t>
            </a:r>
            <a:r>
              <a:rPr dirty="0"/>
              <a:t>model </a:t>
            </a:r>
            <a:r>
              <a:rPr dirty="0" err="1"/>
              <a:t>integratif</a:t>
            </a:r>
            <a:r>
              <a:rPr dirty="0"/>
              <a:t> COSO–COBIT–ITIL–</a:t>
            </a:r>
            <a:r>
              <a:rPr dirty="0" err="1"/>
              <a:t>SiAP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COSO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Kekuatan</a:t>
            </a:r>
            <a:r>
              <a:rPr dirty="0"/>
              <a:t>:</a:t>
            </a:r>
          </a:p>
          <a:p>
            <a:r>
              <a:rPr dirty="0" err="1" smtClean="0"/>
              <a:t>Kontrol</a:t>
            </a:r>
            <a:r>
              <a:rPr dirty="0" smtClean="0"/>
              <a:t> </a:t>
            </a:r>
            <a:r>
              <a:rPr dirty="0" err="1"/>
              <a:t>aktivitas</a:t>
            </a:r>
            <a:r>
              <a:rPr dirty="0"/>
              <a:t> </a:t>
            </a:r>
            <a:r>
              <a:rPr dirty="0" err="1"/>
              <a:t>kuat</a:t>
            </a:r>
            <a:r>
              <a:rPr dirty="0"/>
              <a:t> (</a:t>
            </a: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berjenjang</a:t>
            </a:r>
            <a:r>
              <a:rPr dirty="0"/>
              <a:t>)</a:t>
            </a:r>
          </a:p>
          <a:p>
            <a:r>
              <a:rPr dirty="0" smtClean="0"/>
              <a:t>Monitoring </a:t>
            </a:r>
            <a:r>
              <a:rPr dirty="0" err="1"/>
              <a:t>efektif</a:t>
            </a:r>
            <a:r>
              <a:rPr dirty="0"/>
              <a:t> melalui audit trail </a:t>
            </a:r>
            <a:r>
              <a:rPr dirty="0" err="1"/>
              <a:t>dan</a:t>
            </a:r>
            <a:r>
              <a:rPr dirty="0"/>
              <a:t> dashboard</a:t>
            </a:r>
          </a:p>
          <a:p>
            <a:pPr marL="0" indent="0">
              <a:buNone/>
            </a:pPr>
            <a:r>
              <a:rPr dirty="0" smtClean="0"/>
              <a:t>Area </a:t>
            </a:r>
            <a:r>
              <a:rPr dirty="0" err="1"/>
              <a:t>Perbaikan</a:t>
            </a:r>
            <a:r>
              <a:rPr dirty="0"/>
              <a:t>:</a:t>
            </a:r>
          </a:p>
          <a:p>
            <a:r>
              <a:rPr dirty="0" smtClean="0"/>
              <a:t>Penilaian </a:t>
            </a:r>
            <a:r>
              <a:rPr dirty="0" err="1"/>
              <a:t>risiko</a:t>
            </a:r>
            <a:r>
              <a:rPr dirty="0"/>
              <a:t> TI belum tersedia</a:t>
            </a:r>
          </a:p>
          <a:p>
            <a:r>
              <a:rPr dirty="0" err="1" smtClean="0"/>
              <a:t>Budaya</a:t>
            </a:r>
            <a:r>
              <a:rPr dirty="0" smtClean="0"/>
              <a:t> </a:t>
            </a:r>
            <a:r>
              <a:rPr dirty="0" err="1"/>
              <a:t>risiko</a:t>
            </a:r>
            <a:r>
              <a:rPr dirty="0"/>
              <a:t> digital belum </a:t>
            </a:r>
            <a:r>
              <a:rPr dirty="0" err="1"/>
              <a:t>terinternalisasi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Analisis</a:t>
            </a:r>
            <a:r>
              <a:rPr dirty="0"/>
              <a:t>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79388" indent="-179388">
              <a:spcBef>
                <a:spcPts val="0"/>
              </a:spcBef>
            </a:pPr>
            <a:r>
              <a:rPr sz="1800" dirty="0" err="1"/>
              <a:t>Kuat</a:t>
            </a:r>
            <a:r>
              <a:rPr sz="1800" dirty="0"/>
              <a:t>: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APO </a:t>
            </a:r>
            <a:r>
              <a:rPr sz="1800" dirty="0"/>
              <a:t>– </a:t>
            </a:r>
            <a:r>
              <a:rPr sz="1800" dirty="0" err="1"/>
              <a:t>Perencanaan</a:t>
            </a:r>
            <a:r>
              <a:rPr sz="1800" dirty="0"/>
              <a:t> &amp; </a:t>
            </a:r>
            <a:r>
              <a:rPr sz="1800" dirty="0" err="1"/>
              <a:t>pengorganisasian</a:t>
            </a:r>
            <a:r>
              <a:rPr sz="1800" dirty="0"/>
              <a:t> pemeriksaan</a:t>
            </a:r>
          </a:p>
          <a:p>
            <a:pPr>
              <a:spcBef>
                <a:spcPts val="0"/>
              </a:spcBef>
            </a:pPr>
            <a:endParaRPr sz="1800" dirty="0"/>
          </a:p>
          <a:p>
            <a:pPr marL="179388" indent="-179388">
              <a:spcBef>
                <a:spcPts val="0"/>
              </a:spcBef>
            </a:pPr>
            <a:r>
              <a:rPr sz="1800" dirty="0"/>
              <a:t>Sedang: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MEA </a:t>
            </a:r>
            <a:r>
              <a:rPr sz="1800" dirty="0"/>
              <a:t>– Monitoring TI belum </a:t>
            </a:r>
            <a:r>
              <a:rPr sz="1800" dirty="0" err="1"/>
              <a:t>komprehensif</a:t>
            </a:r>
            <a:endParaRPr sz="1800" dirty="0"/>
          </a:p>
          <a:p>
            <a:pPr>
              <a:spcBef>
                <a:spcPts val="0"/>
              </a:spcBef>
            </a:pPr>
            <a:endParaRPr sz="1800" dirty="0"/>
          </a:p>
          <a:p>
            <a:pPr marL="179388" indent="-179388">
              <a:spcBef>
                <a:spcPts val="0"/>
              </a:spcBef>
            </a:pPr>
            <a:r>
              <a:rPr sz="1800" dirty="0" err="1"/>
              <a:t>Lemah</a:t>
            </a:r>
            <a:r>
              <a:rPr sz="1800" dirty="0"/>
              <a:t>: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EDM </a:t>
            </a:r>
            <a:r>
              <a:rPr sz="1800" dirty="0"/>
              <a:t>– Tidak </a:t>
            </a:r>
            <a:r>
              <a:rPr sz="1800" dirty="0" err="1"/>
              <a:t>ada</a:t>
            </a:r>
            <a:r>
              <a:rPr sz="1800" dirty="0"/>
              <a:t> SLA/KPI TI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BAI </a:t>
            </a:r>
            <a:r>
              <a:rPr sz="1800" dirty="0"/>
              <a:t>– Tidak </a:t>
            </a:r>
            <a:r>
              <a:rPr sz="1800" dirty="0" err="1"/>
              <a:t>ada</a:t>
            </a:r>
            <a:r>
              <a:rPr sz="1800" dirty="0"/>
              <a:t> SDLC &amp; change management</a:t>
            </a:r>
          </a:p>
          <a:p>
            <a:pPr marL="0" indent="179388">
              <a:spcBef>
                <a:spcPts val="0"/>
              </a:spcBef>
              <a:buNone/>
            </a:pPr>
            <a:r>
              <a:rPr sz="1800" dirty="0" smtClean="0"/>
              <a:t>DSS </a:t>
            </a:r>
            <a:r>
              <a:rPr sz="1800" dirty="0"/>
              <a:t>– Tidak </a:t>
            </a:r>
            <a:r>
              <a:rPr sz="1800" dirty="0" err="1"/>
              <a:t>ada</a:t>
            </a:r>
            <a:r>
              <a:rPr sz="1800" dirty="0"/>
              <a:t> ticketing, DRP/BCP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ITIL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837766"/>
            <a:ext cx="7797662" cy="33111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sz="2400" dirty="0" err="1"/>
              <a:t>Terpenuhi</a:t>
            </a:r>
            <a:r>
              <a:rPr sz="2400" dirty="0"/>
              <a:t> </a:t>
            </a:r>
            <a:r>
              <a:rPr sz="2400" dirty="0" err="1"/>
              <a:t>sebagian</a:t>
            </a:r>
            <a:r>
              <a:rPr sz="2400" dirty="0"/>
              <a:t>:</a:t>
            </a:r>
          </a:p>
          <a:p>
            <a:pPr marL="0" indent="263525">
              <a:spcBef>
                <a:spcPts val="0"/>
              </a:spcBef>
              <a:buNone/>
            </a:pPr>
            <a:r>
              <a:rPr dirty="0" smtClean="0"/>
              <a:t>SSO</a:t>
            </a:r>
            <a:r>
              <a:rPr dirty="0"/>
              <a:t>, </a:t>
            </a:r>
            <a:r>
              <a:rPr dirty="0" err="1"/>
              <a:t>kontrol</a:t>
            </a:r>
            <a:r>
              <a:rPr dirty="0"/>
              <a:t> akses, VPN</a:t>
            </a:r>
          </a:p>
          <a:p>
            <a:pPr>
              <a:spcBef>
                <a:spcPts val="0"/>
              </a:spcBef>
            </a:pPr>
            <a:endParaRPr dirty="0"/>
          </a:p>
          <a:p>
            <a:pPr marL="179388" indent="-179388">
              <a:spcBef>
                <a:spcPts val="0"/>
              </a:spcBef>
            </a:pPr>
            <a:r>
              <a:rPr sz="2400" dirty="0"/>
              <a:t>Belum </a:t>
            </a:r>
            <a:r>
              <a:rPr sz="2400" dirty="0" err="1"/>
              <a:t>terpenuhi</a:t>
            </a:r>
            <a:r>
              <a:rPr sz="2400" dirty="0"/>
              <a:t>:</a:t>
            </a:r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Incident </a:t>
            </a:r>
            <a:r>
              <a:rPr dirty="0"/>
              <a:t>&amp; problem management</a:t>
            </a:r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Service </a:t>
            </a:r>
            <a:r>
              <a:rPr dirty="0"/>
              <a:t>desk formal</a:t>
            </a:r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DRP/BCP</a:t>
            </a:r>
            <a:endParaRPr dirty="0"/>
          </a:p>
          <a:p>
            <a:pPr marL="0" indent="179388">
              <a:spcBef>
                <a:spcPts val="0"/>
              </a:spcBef>
              <a:buNone/>
            </a:pPr>
            <a:r>
              <a:rPr dirty="0" smtClean="0"/>
              <a:t>Continual </a:t>
            </a:r>
            <a:r>
              <a:rPr dirty="0"/>
              <a:t>improvement proses 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Integratif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778" y="2063396"/>
            <a:ext cx="7797662" cy="33111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sz="2400" dirty="0"/>
              <a:t>1. COSO → </a:t>
            </a:r>
            <a:r>
              <a:rPr sz="2400" dirty="0" err="1"/>
              <a:t>Mengendalikan</a:t>
            </a:r>
            <a:r>
              <a:rPr sz="2400" dirty="0"/>
              <a:t> proses audit</a:t>
            </a:r>
          </a:p>
          <a:p>
            <a:pPr>
              <a:spcBef>
                <a:spcPts val="0"/>
              </a:spcBef>
            </a:pPr>
            <a:r>
              <a:rPr sz="2400" dirty="0"/>
              <a:t>2. COBIT 2019 → </a:t>
            </a:r>
            <a:r>
              <a:rPr sz="2400" dirty="0" err="1"/>
              <a:t>Mengelola</a:t>
            </a:r>
            <a:r>
              <a:rPr sz="2400" dirty="0"/>
              <a:t> </a:t>
            </a:r>
            <a:r>
              <a:rPr sz="2400" dirty="0" err="1"/>
              <a:t>tata</a:t>
            </a:r>
            <a:r>
              <a:rPr sz="2400" dirty="0"/>
              <a:t> </a:t>
            </a:r>
            <a:r>
              <a:rPr sz="2400" dirty="0" err="1"/>
              <a:t>kelola</a:t>
            </a:r>
            <a:r>
              <a:rPr sz="2400" dirty="0"/>
              <a:t> TI</a:t>
            </a:r>
          </a:p>
          <a:p>
            <a:pPr>
              <a:spcBef>
                <a:spcPts val="0"/>
              </a:spcBef>
            </a:pPr>
            <a:r>
              <a:rPr sz="2400" dirty="0"/>
              <a:t>3. ITIL 4 → </a:t>
            </a:r>
            <a:r>
              <a:rPr sz="2400" dirty="0" err="1"/>
              <a:t>Menjamin</a:t>
            </a:r>
            <a:r>
              <a:rPr sz="2400" dirty="0"/>
              <a:t> </a:t>
            </a:r>
            <a:r>
              <a:rPr sz="2400" dirty="0" err="1"/>
              <a:t>kualitas</a:t>
            </a:r>
            <a:r>
              <a:rPr sz="2400" dirty="0"/>
              <a:t> </a:t>
            </a:r>
            <a:r>
              <a:rPr sz="2400" dirty="0" err="1"/>
              <a:t>layanan</a:t>
            </a:r>
            <a:r>
              <a:rPr sz="2400" dirty="0"/>
              <a:t> TI</a:t>
            </a:r>
          </a:p>
          <a:p>
            <a:pPr>
              <a:spcBef>
                <a:spcPts val="0"/>
              </a:spcBef>
            </a:pPr>
            <a:endParaRPr sz="2400" dirty="0"/>
          </a:p>
          <a:p>
            <a:pPr marL="0" indent="0">
              <a:spcBef>
                <a:spcPts val="0"/>
              </a:spcBef>
              <a:buNone/>
            </a:pPr>
            <a:r>
              <a:rPr sz="2400" dirty="0"/>
              <a:t>Hasil </a:t>
            </a:r>
            <a:r>
              <a:rPr sz="2400" dirty="0" err="1" smtClean="0"/>
              <a:t>integrasi</a:t>
            </a:r>
            <a:r>
              <a:rPr sz="2400" dirty="0" smtClean="0"/>
              <a:t>:</a:t>
            </a:r>
            <a:endParaRPr lang="en-US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sz="2400" dirty="0" err="1" smtClean="0"/>
              <a:t>SiAP</a:t>
            </a:r>
            <a:r>
              <a:rPr sz="2400" dirty="0" smtClean="0"/>
              <a:t> </a:t>
            </a:r>
            <a:r>
              <a:rPr sz="2400" dirty="0"/>
              <a:t>menjadi </a:t>
            </a:r>
            <a:r>
              <a:rPr sz="2400" dirty="0" err="1"/>
              <a:t>ekosistem</a:t>
            </a:r>
            <a:r>
              <a:rPr sz="2400" dirty="0"/>
              <a:t> audit digital yang </a:t>
            </a:r>
            <a:r>
              <a:rPr sz="2400" dirty="0" err="1"/>
              <a:t>stabil</a:t>
            </a:r>
            <a:r>
              <a:rPr sz="2400" dirty="0"/>
              <a:t>, </a:t>
            </a:r>
            <a:r>
              <a:rPr sz="2400" dirty="0" err="1"/>
              <a:t>aman</a:t>
            </a:r>
            <a:r>
              <a:rPr sz="2400" dirty="0"/>
              <a:t>, </a:t>
            </a:r>
            <a:r>
              <a:rPr sz="2400" dirty="0" err="1"/>
              <a:t>dan</a:t>
            </a:r>
            <a:r>
              <a:rPr sz="2400" dirty="0"/>
              <a:t> </a:t>
            </a:r>
            <a:r>
              <a:rPr sz="2400" dirty="0" err="1"/>
              <a:t>akuntabel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SiAP</a:t>
            </a:r>
            <a:r>
              <a:rPr dirty="0" smtClean="0"/>
              <a:t> </a:t>
            </a:r>
            <a:r>
              <a:rPr dirty="0"/>
              <a:t>sudah </a:t>
            </a:r>
            <a:r>
              <a:rPr dirty="0" err="1"/>
              <a:t>kuat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</a:t>
            </a:r>
            <a:r>
              <a:rPr dirty="0" err="1"/>
              <a:t>sisi</a:t>
            </a:r>
            <a:r>
              <a:rPr dirty="0"/>
              <a:t> proses audit (COSO)</a:t>
            </a:r>
          </a:p>
          <a:p>
            <a:r>
              <a:rPr dirty="0" err="1" smtClean="0"/>
              <a:t>Lemah</a:t>
            </a:r>
            <a:r>
              <a:rPr dirty="0" smtClean="0"/>
              <a:t> </a:t>
            </a:r>
            <a:r>
              <a:rPr dirty="0"/>
              <a:t>pada governance TI &amp; </a:t>
            </a:r>
            <a:r>
              <a:rPr dirty="0" err="1"/>
              <a:t>layanan</a:t>
            </a:r>
            <a:r>
              <a:rPr dirty="0"/>
              <a:t> TI (COBIT/ITIL)</a:t>
            </a:r>
          </a:p>
          <a:p>
            <a:r>
              <a:rPr dirty="0" err="1" smtClean="0"/>
              <a:t>Butuh</a:t>
            </a:r>
            <a:r>
              <a:rPr dirty="0" smtClean="0"/>
              <a:t> </a:t>
            </a:r>
            <a:r>
              <a:rPr dirty="0" err="1"/>
              <a:t>penguatan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TI, SDLC, service desk, DRP</a:t>
            </a:r>
          </a:p>
          <a:p>
            <a:r>
              <a:rPr dirty="0" smtClean="0"/>
              <a:t>Model </a:t>
            </a:r>
            <a:r>
              <a:rPr dirty="0" err="1"/>
              <a:t>integratif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arah</a:t>
            </a:r>
            <a:r>
              <a:rPr dirty="0"/>
              <a:t> </a:t>
            </a:r>
            <a:r>
              <a:rPr dirty="0" err="1"/>
              <a:t>strategis</a:t>
            </a:r>
            <a:r>
              <a:rPr dirty="0"/>
              <a:t> </a:t>
            </a:r>
            <a:r>
              <a:rPr dirty="0" err="1"/>
              <a:t>memperkuat</a:t>
            </a:r>
            <a:r>
              <a:rPr dirty="0"/>
              <a:t> sistem pemeriksaan digital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Rekomendasi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893253"/>
            <a:ext cx="7797662" cy="3311189"/>
          </a:xfrm>
        </p:spPr>
        <p:txBody>
          <a:bodyPr>
            <a:normAutofit/>
          </a:bodyPr>
          <a:lstStyle/>
          <a:p>
            <a:r>
              <a:rPr sz="2200" dirty="0" err="1" smtClean="0"/>
              <a:t>Formalisasi</a:t>
            </a:r>
            <a:r>
              <a:rPr sz="2200" dirty="0" smtClean="0"/>
              <a:t> </a:t>
            </a:r>
            <a:r>
              <a:rPr sz="2200" dirty="0"/>
              <a:t>IT Risk Management</a:t>
            </a:r>
          </a:p>
          <a:p>
            <a:r>
              <a:rPr sz="2200" dirty="0" err="1" smtClean="0"/>
              <a:t>Penyusunan</a:t>
            </a:r>
            <a:r>
              <a:rPr sz="2200" dirty="0" smtClean="0"/>
              <a:t> </a:t>
            </a:r>
            <a:r>
              <a:rPr sz="2200" dirty="0"/>
              <a:t>SLA/OLA/KPI </a:t>
            </a:r>
            <a:r>
              <a:rPr sz="2200" dirty="0" err="1"/>
              <a:t>layanan</a:t>
            </a:r>
            <a:r>
              <a:rPr sz="2200" dirty="0"/>
              <a:t> TI </a:t>
            </a:r>
            <a:r>
              <a:rPr sz="2200" dirty="0" err="1"/>
              <a:t>SiAP</a:t>
            </a:r>
            <a:endParaRPr sz="2200" dirty="0"/>
          </a:p>
          <a:p>
            <a:r>
              <a:rPr sz="2200" dirty="0" err="1" smtClean="0"/>
              <a:t>Penerapan</a:t>
            </a:r>
            <a:r>
              <a:rPr sz="2200" dirty="0" smtClean="0"/>
              <a:t> </a:t>
            </a:r>
            <a:r>
              <a:rPr sz="2200" dirty="0"/>
              <a:t>SDLC &amp; change management</a:t>
            </a:r>
          </a:p>
          <a:p>
            <a:r>
              <a:rPr sz="2200" dirty="0" err="1" smtClean="0"/>
              <a:t>Membangun</a:t>
            </a:r>
            <a:r>
              <a:rPr sz="2200" dirty="0" smtClean="0"/>
              <a:t> </a:t>
            </a:r>
            <a:r>
              <a:rPr sz="2200" dirty="0"/>
              <a:t>service desk &amp; ticketing system</a:t>
            </a:r>
          </a:p>
          <a:p>
            <a:r>
              <a:rPr sz="2200" dirty="0" err="1" smtClean="0"/>
              <a:t>Menyusun</a:t>
            </a:r>
            <a:r>
              <a:rPr sz="2200" dirty="0" smtClean="0"/>
              <a:t> </a:t>
            </a:r>
            <a:r>
              <a:rPr sz="2200" dirty="0"/>
              <a:t>DRP/BCP </a:t>
            </a:r>
            <a:r>
              <a:rPr sz="2200" dirty="0" err="1"/>
              <a:t>dan</a:t>
            </a:r>
            <a:r>
              <a:rPr sz="2200" dirty="0"/>
              <a:t> </a:t>
            </a:r>
            <a:r>
              <a:rPr sz="2200" dirty="0" err="1"/>
              <a:t>uji</a:t>
            </a:r>
            <a:r>
              <a:rPr sz="2200" dirty="0"/>
              <a:t> </a:t>
            </a:r>
            <a:r>
              <a:rPr sz="2200" dirty="0" err="1"/>
              <a:t>berkala</a:t>
            </a:r>
            <a:endParaRPr sz="2200" dirty="0"/>
          </a:p>
          <a:p>
            <a:r>
              <a:rPr sz="2200" dirty="0" smtClean="0"/>
              <a:t>Audit </a:t>
            </a:r>
            <a:r>
              <a:rPr sz="2200" dirty="0"/>
              <a:t>TI internal </a:t>
            </a:r>
            <a:r>
              <a:rPr sz="2200" dirty="0" err="1"/>
              <a:t>rutin</a:t>
            </a:r>
            <a:endParaRPr sz="2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22</TotalTime>
  <Words>339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Impact</vt:lpstr>
      <vt:lpstr>Main Event</vt:lpstr>
      <vt:lpstr>Nama : Dody Pintarko NPM    : 24066020008 Dosen : DR. basuki rahmat, S.si., M.T </vt:lpstr>
      <vt:lpstr>Latar Belakang</vt:lpstr>
      <vt:lpstr>Tujuan Penelitian</vt:lpstr>
      <vt:lpstr>Metodologi Penelitian</vt:lpstr>
      <vt:lpstr>Analisis COSO</vt:lpstr>
      <vt:lpstr>Analisis COBIT 2019</vt:lpstr>
      <vt:lpstr>Analisis ITIL 4</vt:lpstr>
      <vt:lpstr>Model Integratif</vt:lpstr>
      <vt:lpstr>Kesimpulan</vt:lpstr>
      <vt:lpstr>Rekomendasi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Judul</dc:title>
  <dc:subject/>
  <dc:creator>Dody Pintarko</dc:creator>
  <cp:keywords/>
  <dc:description>generated using python-pptx</dc:description>
  <cp:lastModifiedBy>Dody Pintarko</cp:lastModifiedBy>
  <cp:revision>5</cp:revision>
  <dcterms:created xsi:type="dcterms:W3CDTF">2013-01-27T09:14:16Z</dcterms:created>
  <dcterms:modified xsi:type="dcterms:W3CDTF">2025-12-01T05:59:50Z</dcterms:modified>
  <cp:category/>
</cp:coreProperties>
</file>